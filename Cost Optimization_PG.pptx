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kUFsxsj45ciX1+dzpzybOjUBf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C3B7D6-499B-4C78-95FC-73CBEB663478}">
  <a:tblStyle styleId="{CEC3B7D6-499B-4C78-95FC-73CBEB66347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9E6"/>
          </a:solidFill>
        </a:fill>
      </a:tcStyle>
    </a:wholeTbl>
    <a:band1H>
      <a:tcTxStyle/>
      <a:tcStyle>
        <a:tcBdr/>
        <a:fill>
          <a:solidFill>
            <a:srgbClr val="F7D0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7D0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74"/>
    <p:restoredTop sz="96301"/>
  </p:normalViewPr>
  <p:slideViewPr>
    <p:cSldViewPr snapToGrid="0">
      <p:cViewPr>
        <p:scale>
          <a:sx n="112" d="100"/>
          <a:sy n="112" d="100"/>
        </p:scale>
        <p:origin x="1424" y="5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/>
              <a:t>Time:</a:t>
            </a:r>
            <a:r>
              <a:rPr lang="en-US"/>
              <a:t> 1 mins.</a:t>
            </a:r>
            <a:endParaRPr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/>
              <a:t>Time:</a:t>
            </a:r>
            <a:r>
              <a:rPr lang="en-US"/>
              <a:t> 1 - 2 mins.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/>
              <a:t>Time:</a:t>
            </a:r>
            <a:r>
              <a:rPr lang="en-US"/>
              <a:t> 1 - 2 mins.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/>
              <a:t>Time:</a:t>
            </a:r>
            <a:r>
              <a:rPr lang="en-US"/>
              <a:t> 1 - 2 mins.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/>
              <a:t>Time:</a:t>
            </a:r>
            <a:r>
              <a:rPr lang="en-US"/>
              <a:t> 1 - 2 mins.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/>
              <a:t>Time:</a:t>
            </a:r>
            <a:r>
              <a:rPr lang="en-US"/>
              <a:t> 1 - 2 mins.</a:t>
            </a:r>
            <a:endParaRPr/>
          </a:p>
        </p:txBody>
      </p:sp>
      <p:sp>
        <p:nvSpPr>
          <p:cNvPr id="226" name="Google Shape;22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/>
              <a:t>Time:</a:t>
            </a:r>
            <a:r>
              <a:rPr lang="en-US"/>
              <a:t> 1 - 2 mins.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/>
              <a:t>Time:</a:t>
            </a:r>
            <a:r>
              <a:rPr lang="en-US"/>
              <a:t> 1 - 2 mins.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/>
              <a:t>Time:</a:t>
            </a:r>
            <a:r>
              <a:rPr lang="en-US"/>
              <a:t> 1 - 2 mins.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 dirty="0"/>
              <a:t>Time:</a:t>
            </a:r>
            <a:r>
              <a:rPr lang="en-US" dirty="0"/>
              <a:t> 1 - 2 mins.</a:t>
            </a:r>
            <a:endParaRPr dirty="0"/>
          </a:p>
        </p:txBody>
      </p:sp>
      <p:sp>
        <p:nvSpPr>
          <p:cNvPr id="284" name="Google Shape;28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/>
              <a:t>Time:</a:t>
            </a:r>
            <a:r>
              <a:rPr lang="en-US"/>
              <a:t> 1 - 2 mins.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u="sng" dirty="0"/>
              <a:t>Time:</a:t>
            </a:r>
            <a:r>
              <a:rPr lang="en-US" dirty="0"/>
              <a:t> 15 - 20 mins.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0" u="sng" dirty="0"/>
              <a:t>Notes: (Do Not Need Sandbox Environment)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0" i="0" u="none" dirty="0"/>
              <a:t>Create an estimate and show the Pricing Calculator is action. The AWS Pricing Calculator link: https://</a:t>
            </a:r>
            <a:r>
              <a:rPr lang="en-US" b="0" i="0" u="none" dirty="0" err="1"/>
              <a:t>calculator.aws</a:t>
            </a:r>
            <a:r>
              <a:rPr lang="en-US" b="0" i="0" u="none" dirty="0"/>
              <a:t>/#/</a:t>
            </a:r>
            <a:endParaRPr dirty="0"/>
          </a:p>
        </p:txBody>
      </p:sp>
      <p:sp>
        <p:nvSpPr>
          <p:cNvPr id="346" name="Google Shape;34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/>
              <a:t>Time:</a:t>
            </a:r>
            <a:r>
              <a:rPr lang="en-US"/>
              <a:t> 10 -15 mins.</a:t>
            </a:r>
            <a:endParaRPr/>
          </a:p>
        </p:txBody>
      </p:sp>
      <p:sp>
        <p:nvSpPr>
          <p:cNvPr id="352" name="Google Shape;35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2">
  <p:cSld name="Section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/>
        </p:nvSpPr>
        <p:spPr>
          <a:xfrm>
            <a:off x="4445000" y="6330387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269875" y="2870811"/>
            <a:ext cx="10757271" cy="9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  <a:defRPr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>
  <p:cSld name="Title_Only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>
            <a:spLocks noGrp="1"/>
          </p:cNvSpPr>
          <p:nvPr>
            <p:ph type="title"/>
          </p:nvPr>
        </p:nvSpPr>
        <p:spPr>
          <a:xfrm>
            <a:off x="269875" y="289511"/>
            <a:ext cx="11652356" cy="899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E3D"/>
              </a:buClr>
              <a:buSzPts val="4400"/>
              <a:buFont typeface="Calibri"/>
              <a:buNone/>
              <a:defRPr>
                <a:solidFill>
                  <a:srgbClr val="202E3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/>
          <p:nvPr/>
        </p:nvSpPr>
        <p:spPr>
          <a:xfrm>
            <a:off x="4445000" y="6330387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/>
          </a:p>
        </p:txBody>
      </p:sp>
      <p:pic>
        <p:nvPicPr>
          <p:cNvPr id="27" name="Google Shape;27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7"/>
          <p:cNvSpPr txBox="1"/>
          <p:nvPr/>
        </p:nvSpPr>
        <p:spPr>
          <a:xfrm>
            <a:off x="4354286" y="2601686"/>
            <a:ext cx="36939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_You">
  <p:cSld name="Thank_You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9"/>
          <p:cNvPicPr preferRelativeResize="0"/>
          <p:nvPr/>
        </p:nvPicPr>
        <p:blipFill rotWithShape="1">
          <a:blip r:embed="rId2">
            <a:alphaModFix/>
          </a:blip>
          <a:srcRect l="5845"/>
          <a:stretch/>
        </p:blipFill>
        <p:spPr>
          <a:xfrm>
            <a:off x="0" y="0"/>
            <a:ext cx="12192000" cy="685535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9"/>
          <p:cNvSpPr txBox="1">
            <a:spLocks noGrp="1"/>
          </p:cNvSpPr>
          <p:nvPr>
            <p:ph type="body" idx="1"/>
          </p:nvPr>
        </p:nvSpPr>
        <p:spPr>
          <a:xfrm>
            <a:off x="269875" y="3529327"/>
            <a:ext cx="3652631" cy="445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33"/>
              <a:buNone/>
              <a:defRPr sz="23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/>
          <p:nvPr/>
        </p:nvSpPr>
        <p:spPr>
          <a:xfrm>
            <a:off x="269239" y="1841350"/>
            <a:ext cx="9979661" cy="158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76200" rIns="121900" bIns="762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83"/>
              <a:buFont typeface="Arial"/>
              <a:buNone/>
            </a:pPr>
            <a:r>
              <a:rPr lang="en-US" sz="9583" b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39" name="Google Shape;39;p29"/>
          <p:cNvSpPr txBox="1"/>
          <p:nvPr/>
        </p:nvSpPr>
        <p:spPr>
          <a:xfrm>
            <a:off x="4445000" y="6330387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2"/>
          </p:nvPr>
        </p:nvSpPr>
        <p:spPr>
          <a:xfrm>
            <a:off x="269875" y="3986534"/>
            <a:ext cx="3652631" cy="445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33"/>
              <a:buNone/>
              <a:defRPr sz="2333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3"/>
          </p:nvPr>
        </p:nvSpPr>
        <p:spPr>
          <a:xfrm>
            <a:off x="3922506" y="3529327"/>
            <a:ext cx="3649980" cy="445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33"/>
              <a:buNone/>
              <a:defRPr sz="23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4"/>
          </p:nvPr>
        </p:nvSpPr>
        <p:spPr>
          <a:xfrm>
            <a:off x="3922506" y="3986534"/>
            <a:ext cx="3649980" cy="445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33"/>
              <a:buNone/>
              <a:defRPr sz="2333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3" name="Google Shape;4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>
            <a:spLocks noGrp="1"/>
          </p:cNvSpPr>
          <p:nvPr>
            <p:ph type="title"/>
          </p:nvPr>
        </p:nvSpPr>
        <p:spPr>
          <a:xfrm>
            <a:off x="511083" y="1286875"/>
            <a:ext cx="11169835" cy="42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b="1" dirty="0"/>
              <a:t>Cost Optimization</a:t>
            </a:r>
            <a:br>
              <a:rPr lang="en-US" sz="5400" b="1" dirty="0"/>
            </a:br>
            <a:br>
              <a:rPr lang="en-US" sz="5400" b="1" dirty="0"/>
            </a:br>
            <a:br>
              <a:rPr lang="en-US" sz="5400" b="1" dirty="0"/>
            </a:br>
            <a:r>
              <a:rPr lang="en-US" sz="4000" b="1" dirty="0"/>
              <a:t>Fundamental Pricing for Compute, Storage, Data Transfer: Key Considerations </a:t>
            </a:r>
            <a:br>
              <a:rPr lang="en-US" sz="4000" b="1" dirty="0"/>
            </a:br>
            <a:endParaRPr sz="40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>
            <a:spLocks noGrp="1"/>
          </p:cNvSpPr>
          <p:nvPr>
            <p:ph type="title"/>
          </p:nvPr>
        </p:nvSpPr>
        <p:spPr>
          <a:xfrm>
            <a:off x="269875" y="289511"/>
            <a:ext cx="11652356" cy="899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E3D"/>
              </a:buClr>
              <a:buSzPts val="4000"/>
              <a:buFont typeface="Calibri"/>
              <a:buNone/>
            </a:pPr>
            <a:r>
              <a:rPr lang="en-US" sz="4000"/>
              <a:t>Agenda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33400" y="1189176"/>
            <a:ext cx="5566569" cy="2753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 sz="2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AWS Pricing Key Principles</a:t>
            </a:r>
            <a:endParaRPr/>
          </a:p>
          <a:p>
            <a:pPr marL="342900" marR="0" lvl="0" indent="-34290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 sz="2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AWS Pricing Models</a:t>
            </a:r>
            <a:endParaRPr/>
          </a:p>
          <a:p>
            <a:pPr marL="342900" marR="0" lvl="0" indent="-34290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 sz="2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AWS Pricing Calculator</a:t>
            </a:r>
            <a:endParaRPr/>
          </a:p>
          <a:p>
            <a:pPr marL="342900" marR="0" lvl="0" indent="-34290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 sz="2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Ways to Reduce AWS Bill</a:t>
            </a:r>
            <a:endParaRPr/>
          </a:p>
          <a:p>
            <a:pPr marL="342900" marR="0" lvl="0" indent="-34290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 sz="2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AWS Cost Optimization</a:t>
            </a:r>
            <a:endParaRPr/>
          </a:p>
          <a:p>
            <a:pPr marL="342900" marR="0" lvl="0" indent="-34290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 sz="2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Demo: Pricing Calculator/Estimates</a:t>
            </a:r>
            <a:endParaRPr/>
          </a:p>
          <a:p>
            <a:pPr marL="342900" marR="0" lvl="0" indent="-34290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 sz="2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1561" y="0"/>
            <a:ext cx="1431672" cy="1539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717365" y="2865769"/>
            <a:ext cx="10757271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b="1"/>
              <a:t>AWS Pricing Key Principles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accent1"/>
                </a:solidFill>
              </a:rPr>
              <a:t>Pricing Key Principles</a:t>
            </a:r>
            <a:endParaRPr/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4445000" y="6330386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 sz="750" b="0" i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6"/>
          <p:cNvGrpSpPr/>
          <p:nvPr/>
        </p:nvGrpSpPr>
        <p:grpSpPr>
          <a:xfrm>
            <a:off x="629338" y="1450127"/>
            <a:ext cx="10933322" cy="4643547"/>
            <a:chOff x="688" y="2326"/>
            <a:chExt cx="10933322" cy="4643547"/>
          </a:xfrm>
        </p:grpSpPr>
        <p:sp>
          <p:nvSpPr>
            <p:cNvPr id="154" name="Google Shape;154;p6"/>
            <p:cNvSpPr/>
            <p:nvPr/>
          </p:nvSpPr>
          <p:spPr>
            <a:xfrm rot="5400000">
              <a:off x="7171859" y="-2752791"/>
              <a:ext cx="895141" cy="662916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4304850" y="157915"/>
              <a:ext cx="6585464" cy="807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There are three fundamental drivers of cost with AWS: compute, storage, and outbound data transfer.</a:t>
              </a: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688" y="2326"/>
              <a:ext cx="4304161" cy="111892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55310" y="56948"/>
              <a:ext cx="4194917" cy="1009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53325" rIns="10667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Understand the fundamentals of pricing</a:t>
              </a:r>
              <a:endParaRPr/>
            </a:p>
          </p:txBody>
        </p:sp>
        <p:sp>
          <p:nvSpPr>
            <p:cNvPr id="158" name="Google Shape;158;p6"/>
            <p:cNvSpPr/>
            <p:nvPr/>
          </p:nvSpPr>
          <p:spPr>
            <a:xfrm rot="5400000">
              <a:off x="7171859" y="-1577917"/>
              <a:ext cx="895141" cy="662916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4304850" y="1332789"/>
              <a:ext cx="6585464" cy="807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Trade fixed expenses (such as data centers and physical servers) for variable expenses, and only pay for IT as you consume it.</a:t>
              </a: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688" y="1177199"/>
              <a:ext cx="4304161" cy="111892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55310" y="1231821"/>
              <a:ext cx="4194917" cy="1009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53325" rIns="10667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 early with cost optimization</a:t>
              </a:r>
              <a:endParaRPr/>
            </a:p>
          </p:txBody>
        </p:sp>
        <p:sp>
          <p:nvSpPr>
            <p:cNvPr id="162" name="Google Shape;162;p6"/>
            <p:cNvSpPr/>
            <p:nvPr/>
          </p:nvSpPr>
          <p:spPr>
            <a:xfrm rot="5400000">
              <a:off x="7171859" y="-403044"/>
              <a:ext cx="895141" cy="662916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6"/>
            <p:cNvSpPr txBox="1"/>
            <p:nvPr/>
          </p:nvSpPr>
          <p:spPr>
            <a:xfrm>
              <a:off x="4304850" y="2507662"/>
              <a:ext cx="6585464" cy="807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AWS services are priced independently, transparently, and available on-demand, so you can choose and pay for exactly what you need.</a:t>
              </a: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688" y="2352073"/>
              <a:ext cx="4304161" cy="111892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6"/>
            <p:cNvSpPr txBox="1"/>
            <p:nvPr/>
          </p:nvSpPr>
          <p:spPr>
            <a:xfrm>
              <a:off x="55310" y="2406695"/>
              <a:ext cx="4194917" cy="1009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53325" rIns="10667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Maximize the power of flexibility</a:t>
              </a: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 rot="5400000">
              <a:off x="7171859" y="771829"/>
              <a:ext cx="895141" cy="662916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6"/>
            <p:cNvSpPr txBox="1"/>
            <p:nvPr/>
          </p:nvSpPr>
          <p:spPr>
            <a:xfrm>
              <a:off x="4304850" y="3682536"/>
              <a:ext cx="6585464" cy="807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On-Demand Instances, Savings Plans, Spot Instances, Reservations</a:t>
              </a: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688" y="3526946"/>
              <a:ext cx="4304161" cy="111892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55310" y="3581568"/>
              <a:ext cx="4194917" cy="1009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53325" rIns="10667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the right pricing model for the job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>
            <a:spLocks noGrp="1"/>
          </p:cNvSpPr>
          <p:nvPr>
            <p:ph type="title"/>
          </p:nvPr>
        </p:nvSpPr>
        <p:spPr>
          <a:xfrm>
            <a:off x="717365" y="2865769"/>
            <a:ext cx="10757271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b="1"/>
              <a:t>AWS Pricing Models</a:t>
            </a:r>
            <a:endParaRPr sz="600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8"/>
          <p:cNvGraphicFramePr/>
          <p:nvPr/>
        </p:nvGraphicFramePr>
        <p:xfrm>
          <a:off x="838200" y="1295400"/>
          <a:ext cx="10515600" cy="4894695"/>
        </p:xfrm>
        <a:graphic>
          <a:graphicData uri="http://schemas.openxmlformats.org/drawingml/2006/table">
            <a:tbl>
              <a:tblPr firstRow="1" bandRow="1">
                <a:noFill/>
                <a:tableStyleId>{CEC3B7D6-499B-4C78-95FC-73CBEB663478}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On Demand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Reserved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Spot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9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Users that prefer the low cost and flexibility of Amazon EC2 without any up-front payment or long-term commitment.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Applications with Steady State Usage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 Reserved Instances, you </a:t>
                      </a:r>
                      <a:r>
                        <a:rPr lang="en-US" sz="2000"/>
                        <a:t>can save up to 72% over equivalent on-demand capacity.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Applications that have flexible start and end times.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Applications with short-term, spiky, or unpredictable workloads that cannot be interrupted.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Applications that may require reserved capacity.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Applications that are only feasible at very low compute prices.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Applications being developed or tested on Amazon EC2 for the first time.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Customers that can commit to use EC2 instances for 1-to-3-year term to reduce their total computing cost.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Users with urgent computing needs for large amounts of additional capacity.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2" name="Google Shape;182;p8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Comparing Pricing by </a:t>
            </a:r>
            <a:r>
              <a:rPr lang="en-US" sz="4000" b="1">
                <a:solidFill>
                  <a:schemeClr val="accent1"/>
                </a:solidFill>
              </a:rPr>
              <a:t>Instance Type</a:t>
            </a:r>
            <a:endParaRPr/>
          </a:p>
        </p:txBody>
      </p:sp>
      <p:pic>
        <p:nvPicPr>
          <p:cNvPr id="183" name="Google Shape;18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/>
        </p:nvSpPr>
        <p:spPr>
          <a:xfrm>
            <a:off x="4445000" y="6330386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 sz="750" b="0" i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9"/>
          <p:cNvGrpSpPr/>
          <p:nvPr/>
        </p:nvGrpSpPr>
        <p:grpSpPr>
          <a:xfrm>
            <a:off x="629686" y="1449843"/>
            <a:ext cx="10932627" cy="4644114"/>
            <a:chOff x="1036" y="2042"/>
            <a:chExt cx="10932627" cy="4644114"/>
          </a:xfrm>
        </p:grpSpPr>
        <p:sp>
          <p:nvSpPr>
            <p:cNvPr id="191" name="Google Shape;191;p9"/>
            <p:cNvSpPr/>
            <p:nvPr/>
          </p:nvSpPr>
          <p:spPr>
            <a:xfrm rot="5400000">
              <a:off x="7314811" y="-2811315"/>
              <a:ext cx="714479" cy="651981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 txBox="1"/>
            <p:nvPr/>
          </p:nvSpPr>
          <p:spPr>
            <a:xfrm>
              <a:off x="4412144" y="126230"/>
              <a:ext cx="6484936" cy="644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EC2, RDS</a:t>
              </a:r>
              <a:endPara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1036" y="2042"/>
              <a:ext cx="4411107" cy="89309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 txBox="1"/>
            <p:nvPr/>
          </p:nvSpPr>
          <p:spPr>
            <a:xfrm>
              <a:off x="44633" y="45639"/>
              <a:ext cx="4323913" cy="805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53325" rIns="10667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Pay per hour used based on size provisioned</a:t>
              </a: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 rot="5400000">
              <a:off x="7306265" y="-1883812"/>
              <a:ext cx="714479" cy="6540317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4393346" y="1063985"/>
              <a:ext cx="6505439" cy="644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S3, EFS, Lambda</a:t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1036" y="939796"/>
              <a:ext cx="4392309" cy="89309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 txBox="1"/>
            <p:nvPr/>
          </p:nvSpPr>
          <p:spPr>
            <a:xfrm>
              <a:off x="44633" y="983393"/>
              <a:ext cx="4305115" cy="805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53325" rIns="10667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Pay per hour used based on size and quantity used</a:t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rot="5400000">
              <a:off x="7306265" y="-946058"/>
              <a:ext cx="714479" cy="6540317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 txBox="1"/>
            <p:nvPr/>
          </p:nvSpPr>
          <p:spPr>
            <a:xfrm>
              <a:off x="4393346" y="2001739"/>
              <a:ext cx="6505439" cy="644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Services</a:t>
              </a: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1036" y="1877550"/>
              <a:ext cx="4392309" cy="89309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 txBox="1"/>
            <p:nvPr/>
          </p:nvSpPr>
          <p:spPr>
            <a:xfrm>
              <a:off x="44633" y="1921147"/>
              <a:ext cx="4305115" cy="805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53325" rIns="10667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On-Demand pay per use</a:t>
              </a: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 rot="5400000">
              <a:off x="7306265" y="-8304"/>
              <a:ext cx="714479" cy="6540317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 txBox="1"/>
            <p:nvPr/>
          </p:nvSpPr>
          <p:spPr>
            <a:xfrm>
              <a:off x="4393346" y="2939493"/>
              <a:ext cx="6505439" cy="644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EC2, RDS, Redshift, ElasticCache, DynamoDB</a:t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1036" y="2815304"/>
              <a:ext cx="4392309" cy="89309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 txBox="1"/>
            <p:nvPr/>
          </p:nvSpPr>
          <p:spPr>
            <a:xfrm>
              <a:off x="44633" y="2858901"/>
              <a:ext cx="4305115" cy="805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53325" rIns="10667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Reserved (Commitment discount)</a:t>
              </a: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 rot="5400000">
              <a:off x="7306265" y="929449"/>
              <a:ext cx="714479" cy="6540317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 txBox="1"/>
            <p:nvPr/>
          </p:nvSpPr>
          <p:spPr>
            <a:xfrm>
              <a:off x="4393346" y="3877246"/>
              <a:ext cx="6505439" cy="644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EC2</a:t>
              </a:r>
              <a:endPara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1036" y="3753058"/>
              <a:ext cx="4392309" cy="89309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 txBox="1"/>
            <p:nvPr/>
          </p:nvSpPr>
          <p:spPr>
            <a:xfrm>
              <a:off x="44633" y="3796655"/>
              <a:ext cx="4305115" cy="805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53325" rIns="10667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Spot (Spare Capacity Discount)</a:t>
              </a:r>
              <a:endParaRPr/>
            </a:p>
          </p:txBody>
        </p:sp>
      </p:grpSp>
      <p:sp>
        <p:nvSpPr>
          <p:cNvPr id="211" name="Google Shape;211;p9"/>
          <p:cNvSpPr txBox="1">
            <a:spLocks noGrp="1"/>
          </p:cNvSpPr>
          <p:nvPr>
            <p:ph type="title"/>
          </p:nvPr>
        </p:nvSpPr>
        <p:spPr>
          <a:xfrm>
            <a:off x="838200" y="3172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Comparing Pricing by </a:t>
            </a:r>
            <a:r>
              <a:rPr lang="en-US" sz="4000" b="1">
                <a:solidFill>
                  <a:schemeClr val="accent1"/>
                </a:solidFill>
              </a:rPr>
              <a:t>Service</a:t>
            </a:r>
            <a:endParaRPr/>
          </a:p>
        </p:txBody>
      </p:sp>
      <p:pic>
        <p:nvPicPr>
          <p:cNvPr id="212" name="Google Shape;21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 txBox="1"/>
          <p:nvPr/>
        </p:nvSpPr>
        <p:spPr>
          <a:xfrm>
            <a:off x="4445000" y="6330386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 sz="750" b="0" i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>
            <a:spLocks noGrp="1"/>
          </p:cNvSpPr>
          <p:nvPr>
            <p:ph type="title"/>
          </p:nvPr>
        </p:nvSpPr>
        <p:spPr>
          <a:xfrm>
            <a:off x="839071" y="1524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AWS Pricing Models for </a:t>
            </a:r>
            <a:r>
              <a:rPr lang="en-US" sz="4000" b="1">
                <a:solidFill>
                  <a:schemeClr val="accent1"/>
                </a:solidFill>
              </a:rPr>
              <a:t>S3</a:t>
            </a:r>
            <a:endParaRPr/>
          </a:p>
        </p:txBody>
      </p:sp>
      <p:pic>
        <p:nvPicPr>
          <p:cNvPr id="220" name="Google Shape;22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 txBox="1"/>
          <p:nvPr/>
        </p:nvSpPr>
        <p:spPr>
          <a:xfrm>
            <a:off x="4445000" y="6330386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 sz="750" b="0" i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8299" y="1077686"/>
            <a:ext cx="7955402" cy="504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AWS Pricing Models for </a:t>
            </a:r>
            <a:r>
              <a:rPr lang="en-US" sz="4000" b="1">
                <a:solidFill>
                  <a:schemeClr val="accent1"/>
                </a:solidFill>
              </a:rPr>
              <a:t>EBS</a:t>
            </a:r>
            <a:endParaRPr/>
          </a:p>
        </p:txBody>
      </p:sp>
      <p:pic>
        <p:nvPicPr>
          <p:cNvPr id="229" name="Google Shape;22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1"/>
          <p:cNvSpPr txBox="1"/>
          <p:nvPr/>
        </p:nvSpPr>
        <p:spPr>
          <a:xfrm>
            <a:off x="4445000" y="6330386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 sz="750" b="0" i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446459" y="1368746"/>
            <a:ext cx="9299081" cy="4738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 txBox="1"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AWS Pricing Models for </a:t>
            </a:r>
            <a:r>
              <a:rPr lang="en-US" sz="4000" b="1">
                <a:solidFill>
                  <a:schemeClr val="accent1"/>
                </a:solidFill>
              </a:rPr>
              <a:t>Storage (Free Tier)</a:t>
            </a:r>
            <a:endParaRPr/>
          </a:p>
        </p:txBody>
      </p:sp>
      <p:pic>
        <p:nvPicPr>
          <p:cNvPr id="238" name="Google Shape;23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"/>
          <p:cNvSpPr txBox="1"/>
          <p:nvPr/>
        </p:nvSpPr>
        <p:spPr>
          <a:xfrm>
            <a:off x="4445000" y="6330386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 sz="750" b="0" i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07872" y="1190559"/>
            <a:ext cx="5976257" cy="5031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 txBox="1">
            <a:spLocks noGrp="1"/>
          </p:cNvSpPr>
          <p:nvPr>
            <p:ph type="title"/>
          </p:nvPr>
        </p:nvSpPr>
        <p:spPr>
          <a:xfrm>
            <a:off x="717365" y="2865769"/>
            <a:ext cx="10757271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b="1"/>
              <a:t>AWS Pricing Calculator</a:t>
            </a:r>
            <a:endParaRPr sz="600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What is </a:t>
            </a:r>
            <a:r>
              <a:rPr lang="en-US" sz="4000" b="1">
                <a:solidFill>
                  <a:schemeClr val="accent1"/>
                </a:solidFill>
              </a:rPr>
              <a:t>AWS Pricing Calculator</a:t>
            </a:r>
            <a:r>
              <a:rPr lang="en-US" sz="4000"/>
              <a:t>?</a:t>
            </a:r>
            <a:endParaRPr/>
          </a:p>
        </p:txBody>
      </p:sp>
      <p:pic>
        <p:nvPicPr>
          <p:cNvPr id="253" name="Google Shape;25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 txBox="1"/>
          <p:nvPr/>
        </p:nvSpPr>
        <p:spPr>
          <a:xfrm>
            <a:off x="4445000" y="6330386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 sz="750" b="0" i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4"/>
          <p:cNvGrpSpPr/>
          <p:nvPr/>
        </p:nvGrpSpPr>
        <p:grpSpPr>
          <a:xfrm>
            <a:off x="1243693" y="1914607"/>
            <a:ext cx="9704613" cy="3692813"/>
            <a:chOff x="0" y="357950"/>
            <a:chExt cx="9704613" cy="3692813"/>
          </a:xfrm>
        </p:grpSpPr>
        <p:sp>
          <p:nvSpPr>
            <p:cNvPr id="256" name="Google Shape;256;p14"/>
            <p:cNvSpPr/>
            <p:nvPr/>
          </p:nvSpPr>
          <p:spPr>
            <a:xfrm>
              <a:off x="0" y="579153"/>
              <a:ext cx="2426153" cy="12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/>
            <p:cNvSpPr txBox="1"/>
            <p:nvPr/>
          </p:nvSpPr>
          <p:spPr>
            <a:xfrm>
              <a:off x="0" y="579153"/>
              <a:ext cx="2426153" cy="12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71100" rIns="199125" bIns="711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lang="en-US" sz="2800" b="1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Benefits and Features</a:t>
              </a:r>
              <a:endParaRPr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2426153" y="357950"/>
              <a:ext cx="485230" cy="1729406"/>
            </a:xfrm>
            <a:prstGeom prst="leftBrace">
              <a:avLst>
                <a:gd name="adj1" fmla="val 35000"/>
                <a:gd name="adj2" fmla="val 50000"/>
              </a:avLst>
            </a:prstGeom>
            <a:noFill/>
            <a:ln w="12700" cap="flat" cmpd="sng">
              <a:solidFill>
                <a:srgbClr val="BA44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3105476" y="357950"/>
              <a:ext cx="6599137" cy="172940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 txBox="1"/>
            <p:nvPr/>
          </p:nvSpPr>
          <p:spPr>
            <a:xfrm>
              <a:off x="3105476" y="357950"/>
              <a:ext cx="6599137" cy="17294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Transparent Pricing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Share your estimates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Hierarchical estimates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Estimate exports</a:t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0" y="2542560"/>
              <a:ext cx="2426153" cy="12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 txBox="1"/>
            <p:nvPr/>
          </p:nvSpPr>
          <p:spPr>
            <a:xfrm>
              <a:off x="0" y="2542560"/>
              <a:ext cx="2426153" cy="12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71100" rIns="199125" bIns="711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lang="en-US" sz="2800" b="1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Cases</a:t>
              </a:r>
              <a:endParaRPr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2426153" y="2321357"/>
              <a:ext cx="485230" cy="1729406"/>
            </a:xfrm>
            <a:prstGeom prst="leftBrace">
              <a:avLst>
                <a:gd name="adj1" fmla="val 35000"/>
                <a:gd name="adj2" fmla="val 50000"/>
              </a:avLst>
            </a:prstGeom>
            <a:noFill/>
            <a:ln w="12700" cap="flat" cmpd="sng">
              <a:solidFill>
                <a:srgbClr val="BA44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3105476" y="2321357"/>
              <a:ext cx="6599137" cy="172940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 txBox="1"/>
            <p:nvPr/>
          </p:nvSpPr>
          <p:spPr>
            <a:xfrm>
              <a:off x="3105476" y="2321357"/>
              <a:ext cx="6599137" cy="17294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Reduce your Amazon EC2 spend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Find the right Amazon EC2 Instance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Estimate your AWS spend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Compare service costs per Region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How it works?</a:t>
            </a:r>
            <a:endParaRPr/>
          </a:p>
        </p:txBody>
      </p:sp>
      <p:pic>
        <p:nvPicPr>
          <p:cNvPr id="272" name="Google Shape;2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5"/>
          <p:cNvSpPr txBox="1"/>
          <p:nvPr/>
        </p:nvSpPr>
        <p:spPr>
          <a:xfrm>
            <a:off x="4445000" y="6330386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 sz="750" b="0" i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1452" y="1427066"/>
            <a:ext cx="10209097" cy="4689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"/>
          <p:cNvSpPr txBox="1">
            <a:spLocks noGrp="1"/>
          </p:cNvSpPr>
          <p:nvPr>
            <p:ph type="title"/>
          </p:nvPr>
        </p:nvSpPr>
        <p:spPr>
          <a:xfrm>
            <a:off x="717365" y="2865769"/>
            <a:ext cx="10757271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b="1"/>
              <a:t>Ways to Reduce AWS Bill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17"/>
          <p:cNvGrpSpPr/>
          <p:nvPr/>
        </p:nvGrpSpPr>
        <p:grpSpPr>
          <a:xfrm>
            <a:off x="274764" y="1203050"/>
            <a:ext cx="11642471" cy="4978174"/>
            <a:chOff x="3982" y="60049"/>
            <a:chExt cx="11642471" cy="4978174"/>
          </a:xfrm>
        </p:grpSpPr>
        <p:sp>
          <p:nvSpPr>
            <p:cNvPr id="287" name="Google Shape;287;p17"/>
            <p:cNvSpPr/>
            <p:nvPr/>
          </p:nvSpPr>
          <p:spPr>
            <a:xfrm>
              <a:off x="3982" y="60049"/>
              <a:ext cx="2156013" cy="238128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7"/>
            <p:cNvSpPr txBox="1"/>
            <p:nvPr/>
          </p:nvSpPr>
          <p:spPr>
            <a:xfrm>
              <a:off x="3982" y="60049"/>
              <a:ext cx="2156013" cy="2381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Identify Amazon EC2 instances with low-utilization and reduce cost by stopping or rightsizing</a:t>
              </a:r>
              <a:endParaRPr/>
            </a:p>
          </p:txBody>
        </p:sp>
        <p:sp>
          <p:nvSpPr>
            <p:cNvPr id="289" name="Google Shape;289;p17"/>
            <p:cNvSpPr/>
            <p:nvPr/>
          </p:nvSpPr>
          <p:spPr>
            <a:xfrm>
              <a:off x="2375596" y="60049"/>
              <a:ext cx="2156013" cy="238128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7"/>
            <p:cNvSpPr txBox="1"/>
            <p:nvPr/>
          </p:nvSpPr>
          <p:spPr>
            <a:xfrm>
              <a:off x="2375596" y="60049"/>
              <a:ext cx="2156013" cy="2381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Identify Amazon EBS volumes with low-utilization and reduce cost by snapshotting then deleting them</a:t>
              </a:r>
              <a:endParaRPr/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4747211" y="60049"/>
              <a:ext cx="2156013" cy="238128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7"/>
            <p:cNvSpPr txBox="1"/>
            <p:nvPr/>
          </p:nvSpPr>
          <p:spPr>
            <a:xfrm>
              <a:off x="4747211" y="60049"/>
              <a:ext cx="2156013" cy="2381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Analyze Amazon S3 usage and reduce cost by leveraging lower cost storage tiers</a:t>
              </a:r>
              <a:endParaRPr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7118825" y="60049"/>
              <a:ext cx="2156013" cy="238128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7"/>
            <p:cNvSpPr txBox="1"/>
            <p:nvPr/>
          </p:nvSpPr>
          <p:spPr>
            <a:xfrm>
              <a:off x="7118825" y="60049"/>
              <a:ext cx="2156013" cy="2381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Identify Amazon RDS, Amazon Redshift instances with low utilization and reduce cost by stopping (RDS) and pausing (Redshift)</a:t>
              </a:r>
              <a:endParaRPr/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9490440" y="60049"/>
              <a:ext cx="2156013" cy="238128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7"/>
            <p:cNvSpPr txBox="1"/>
            <p:nvPr/>
          </p:nvSpPr>
          <p:spPr>
            <a:xfrm>
              <a:off x="9490440" y="60049"/>
              <a:ext cx="2156013" cy="2381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Analyze Amazon DynamoDB usage and reduce cost by leveraging Autoscaling or On-demand</a:t>
              </a:r>
              <a:endParaRPr/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3982" y="2656937"/>
              <a:ext cx="2156013" cy="238128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7"/>
            <p:cNvSpPr txBox="1"/>
            <p:nvPr/>
          </p:nvSpPr>
          <p:spPr>
            <a:xfrm>
              <a:off x="3982" y="2656937"/>
              <a:ext cx="2156013" cy="2381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Review networking and reduce costs by deleting idle load balancers</a:t>
              </a:r>
              <a:endParaRPr/>
            </a:p>
          </p:txBody>
        </p:sp>
        <p:sp>
          <p:nvSpPr>
            <p:cNvPr id="299" name="Google Shape;299;p17"/>
            <p:cNvSpPr/>
            <p:nvPr/>
          </p:nvSpPr>
          <p:spPr>
            <a:xfrm>
              <a:off x="2375596" y="2656937"/>
              <a:ext cx="2156013" cy="238128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7"/>
            <p:cNvSpPr txBox="1"/>
            <p:nvPr/>
          </p:nvSpPr>
          <p:spPr>
            <a:xfrm>
              <a:off x="2375596" y="2656937"/>
              <a:ext cx="2156013" cy="2381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Amazon EC2 Spot Instances to reduce EC2 costs</a:t>
              </a:r>
              <a:endParaRPr/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4747211" y="2656937"/>
              <a:ext cx="2156013" cy="238128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7"/>
            <p:cNvSpPr txBox="1"/>
            <p:nvPr/>
          </p:nvSpPr>
          <p:spPr>
            <a:xfrm>
              <a:off x="4747211" y="2656937"/>
              <a:ext cx="2156013" cy="2381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Review and modify EC2 AutoScaling Groups configuration</a:t>
              </a:r>
              <a:endParaRPr/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7118825" y="2656937"/>
              <a:ext cx="2156013" cy="238128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7"/>
            <p:cNvSpPr txBox="1"/>
            <p:nvPr/>
          </p:nvSpPr>
          <p:spPr>
            <a:xfrm>
              <a:off x="7118825" y="2656937"/>
              <a:ext cx="2156013" cy="2381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Reserved Instances (RI) to reduce RDS, Redshift, ElastiCache and Elasticsearch costs</a:t>
              </a: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9490440" y="2656937"/>
              <a:ext cx="2156013" cy="238128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7"/>
            <p:cNvSpPr txBox="1"/>
            <p:nvPr/>
          </p:nvSpPr>
          <p:spPr>
            <a:xfrm>
              <a:off x="9490440" y="2656937"/>
              <a:ext cx="2156013" cy="2381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Compute Savings Plans to reduce EC2, Fargate and Lambda costs</a:t>
              </a:r>
              <a:endParaRPr/>
            </a:p>
          </p:txBody>
        </p:sp>
      </p:grpSp>
      <p:sp>
        <p:nvSpPr>
          <p:cNvPr id="307" name="Google Shape;307;p17"/>
          <p:cNvSpPr txBox="1">
            <a:spLocks noGrp="1"/>
          </p:cNvSpPr>
          <p:nvPr>
            <p:ph type="title"/>
          </p:nvPr>
        </p:nvSpPr>
        <p:spPr>
          <a:xfrm>
            <a:off x="838200" y="348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Different Ways to </a:t>
            </a:r>
            <a:r>
              <a:rPr lang="en-US" sz="4000" b="1">
                <a:solidFill>
                  <a:schemeClr val="accent1"/>
                </a:solidFill>
              </a:rPr>
              <a:t>Reduce your AWS Bill</a:t>
            </a:r>
            <a:endParaRPr/>
          </a:p>
        </p:txBody>
      </p:sp>
      <p:pic>
        <p:nvPicPr>
          <p:cNvPr id="308" name="Google Shape;30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7"/>
          <p:cNvSpPr txBox="1"/>
          <p:nvPr/>
        </p:nvSpPr>
        <p:spPr>
          <a:xfrm>
            <a:off x="4445000" y="6330386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 sz="750" b="0" i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>
            <a:spLocks noGrp="1"/>
          </p:cNvSpPr>
          <p:nvPr>
            <p:ph type="title"/>
          </p:nvPr>
        </p:nvSpPr>
        <p:spPr>
          <a:xfrm>
            <a:off x="717365" y="2865769"/>
            <a:ext cx="10757271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b="1"/>
              <a:t>AWS Cost Optimization</a:t>
            </a:r>
            <a:endParaRPr sz="600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 txBox="1">
            <a:spLocks noGrp="1"/>
          </p:cNvSpPr>
          <p:nvPr>
            <p:ph type="title"/>
          </p:nvPr>
        </p:nvSpPr>
        <p:spPr>
          <a:xfrm>
            <a:off x="838200" y="435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What is </a:t>
            </a:r>
            <a:r>
              <a:rPr lang="en-US" sz="4000" b="1">
                <a:solidFill>
                  <a:schemeClr val="accent1"/>
                </a:solidFill>
              </a:rPr>
              <a:t>AWS Cost Optimization</a:t>
            </a:r>
            <a:r>
              <a:rPr lang="en-US" sz="4000"/>
              <a:t>?</a:t>
            </a:r>
            <a:endParaRPr/>
          </a:p>
        </p:txBody>
      </p:sp>
      <p:pic>
        <p:nvPicPr>
          <p:cNvPr id="322" name="Google Shape;32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71" y="6241274"/>
            <a:ext cx="1223500" cy="293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9"/>
          <p:cNvSpPr txBox="1"/>
          <p:nvPr/>
        </p:nvSpPr>
        <p:spPr>
          <a:xfrm>
            <a:off x="4445000" y="6330386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2021, Amazon Web Services, Inc. or its affiliates. All rights reserved.</a:t>
            </a:r>
            <a:endParaRPr sz="750" b="0" i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19"/>
          <p:cNvGrpSpPr/>
          <p:nvPr/>
        </p:nvGrpSpPr>
        <p:grpSpPr>
          <a:xfrm>
            <a:off x="1242766" y="1096831"/>
            <a:ext cx="9706466" cy="5034607"/>
            <a:chOff x="3035" y="21852"/>
            <a:chExt cx="9706466" cy="5034607"/>
          </a:xfrm>
        </p:grpSpPr>
        <p:sp>
          <p:nvSpPr>
            <p:cNvPr id="325" name="Google Shape;325;p19"/>
            <p:cNvSpPr/>
            <p:nvPr/>
          </p:nvSpPr>
          <p:spPr>
            <a:xfrm>
              <a:off x="3035" y="21852"/>
              <a:ext cx="2959288" cy="118371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9"/>
            <p:cNvSpPr txBox="1"/>
            <p:nvPr/>
          </p:nvSpPr>
          <p:spPr>
            <a:xfrm>
              <a:off x="3035" y="21852"/>
              <a:ext cx="2959288" cy="11837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675" tIns="97525" rIns="170675" bIns="97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Choose the right pricing models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3035" y="1205568"/>
              <a:ext cx="2959288" cy="3850891"/>
            </a:xfrm>
            <a:prstGeom prst="rect">
              <a:avLst/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9"/>
            <p:cNvSpPr txBox="1"/>
            <p:nvPr/>
          </p:nvSpPr>
          <p:spPr>
            <a:xfrm>
              <a:off x="3035" y="1205568"/>
              <a:ext cx="2959288" cy="38508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000" tIns="96000" rIns="128000" bIns="144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Reserved Instances (RI) to reduce Amazon RDS, Amazon Redshift, Amazon ElastiCache, and Amazon OpenSearch Service costs</a:t>
              </a:r>
              <a:endParaRPr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Amazon Spot Instances to reduce EC2 costs or use Compute Savings Plan to reduce EC2, Fargate and Lambda cost. 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3376624" y="21852"/>
              <a:ext cx="2959288" cy="118371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9"/>
            <p:cNvSpPr txBox="1"/>
            <p:nvPr/>
          </p:nvSpPr>
          <p:spPr>
            <a:xfrm>
              <a:off x="3376624" y="21852"/>
              <a:ext cx="2959288" cy="11837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675" tIns="97525" rIns="170675" bIns="97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Match Capacity with Demand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3376624" y="1205568"/>
              <a:ext cx="2959288" cy="3850891"/>
            </a:xfrm>
            <a:prstGeom prst="rect">
              <a:avLst/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9"/>
            <p:cNvSpPr txBox="1"/>
            <p:nvPr/>
          </p:nvSpPr>
          <p:spPr>
            <a:xfrm>
              <a:off x="3376624" y="1205568"/>
              <a:ext cx="2959288" cy="38508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000" tIns="96000" rIns="128000" bIns="144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Identify Amazon EC2 instances with low-utilization and reduce cost by stopping or rightsizing</a:t>
              </a:r>
              <a:endParaRPr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Identify Amazon RDS, Amazon Redshift instances with low utilization and reduce cost by stopping (RDS) and pausing (Redshift)</a:t>
              </a:r>
              <a:endParaRPr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Analyze Amazon DynamoDB usage and reduce cost by leveraging Autoscaling or On-demand</a:t>
              </a: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6750213" y="21852"/>
              <a:ext cx="2959288" cy="1183715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9"/>
            <p:cNvSpPr txBox="1"/>
            <p:nvPr/>
          </p:nvSpPr>
          <p:spPr>
            <a:xfrm>
              <a:off x="6750213" y="21852"/>
              <a:ext cx="2959288" cy="11837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675" tIns="97525" rIns="170675" bIns="97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 processes to identify resource waste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6750213" y="1205568"/>
              <a:ext cx="2959288" cy="3850891"/>
            </a:xfrm>
            <a:prstGeom prst="rect">
              <a:avLst/>
            </a:prstGeom>
            <a:solidFill>
              <a:srgbClr val="F5CFC9">
                <a:alpha val="89803"/>
              </a:srgbClr>
            </a:solidFill>
            <a:ln w="12700" cap="flat" cmpd="sng">
              <a:solidFill>
                <a:srgbClr val="F5CFC9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9"/>
            <p:cNvSpPr txBox="1"/>
            <p:nvPr/>
          </p:nvSpPr>
          <p:spPr>
            <a:xfrm>
              <a:off x="6750213" y="1205568"/>
              <a:ext cx="2959288" cy="38508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000" tIns="96000" rIns="128000" bIns="144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Identify Amazon EBS volumes with low-utilization and reduce cost by snapshotting then deleting them</a:t>
              </a:r>
              <a:endParaRPr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Analyze Amazon S3 usage and reduce cost by leveraging lower cost storage tiers</a:t>
              </a:r>
              <a:endParaRPr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Review networking and reduce costs by deleting idle load balancers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"/>
          <p:cNvSpPr txBox="1">
            <a:spLocks noGrp="1"/>
          </p:cNvSpPr>
          <p:nvPr>
            <p:ph type="title"/>
          </p:nvPr>
        </p:nvSpPr>
        <p:spPr>
          <a:xfrm>
            <a:off x="717365" y="2865769"/>
            <a:ext cx="10757271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b="1"/>
              <a:t>Demo: Pricing Calculator/Estimates</a:t>
            </a:r>
            <a:endParaRPr sz="600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1"/>
          <p:cNvPicPr preferRelativeResize="0"/>
          <p:nvPr/>
        </p:nvPicPr>
        <p:blipFill rotWithShape="1">
          <a:blip r:embed="rId3">
            <a:alphaModFix/>
          </a:blip>
          <a:srcRect t="13225"/>
          <a:stretch/>
        </p:blipFill>
        <p:spPr>
          <a:xfrm>
            <a:off x="458673" y="776739"/>
            <a:ext cx="11274654" cy="5304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 txBox="1">
            <a:spLocks noGrp="1"/>
          </p:cNvSpPr>
          <p:nvPr>
            <p:ph type="title"/>
          </p:nvPr>
        </p:nvSpPr>
        <p:spPr>
          <a:xfrm>
            <a:off x="717365" y="2865769"/>
            <a:ext cx="10757271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b="1"/>
              <a:t>Q &amp; A</a:t>
            </a:r>
            <a:endParaRPr sz="600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Custom 1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B5600"/>
      </a:accent1>
      <a:accent2>
        <a:srgbClr val="1C3678"/>
      </a:accent2>
      <a:accent3>
        <a:srgbClr val="6AA4C8"/>
      </a:accent3>
      <a:accent4>
        <a:srgbClr val="C82613"/>
      </a:accent4>
      <a:accent5>
        <a:srgbClr val="3D85C6"/>
      </a:accent5>
      <a:accent6>
        <a:srgbClr val="763E9B"/>
      </a:accent6>
      <a:hlink>
        <a:srgbClr val="5B9BD5"/>
      </a:hlink>
      <a:folHlink>
        <a:srgbClr val="70AD4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3650</TotalTime>
  <Words>1028</Words>
  <Application>Microsoft Macintosh PowerPoint</Application>
  <PresentationFormat>Widescreen</PresentationFormat>
  <Paragraphs>133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Cost Optimization   Fundamental Pricing for Compute, Storage, Data Transfer: Key Considerations  </vt:lpstr>
      <vt:lpstr>Agenda</vt:lpstr>
      <vt:lpstr>AWS Pricing Key Principles</vt:lpstr>
      <vt:lpstr>Pricing Key Principles</vt:lpstr>
      <vt:lpstr>AWS Pricing Models</vt:lpstr>
      <vt:lpstr>Comparing Pricing by Instance Type</vt:lpstr>
      <vt:lpstr>Comparing Pricing by Service</vt:lpstr>
      <vt:lpstr>AWS Pricing Models for S3</vt:lpstr>
      <vt:lpstr>AWS Pricing Models for EBS</vt:lpstr>
      <vt:lpstr>AWS Pricing Models for Storage (Free Tier)</vt:lpstr>
      <vt:lpstr>AWS Pricing Calculator</vt:lpstr>
      <vt:lpstr>What is AWS Pricing Calculator?</vt:lpstr>
      <vt:lpstr>How it works?</vt:lpstr>
      <vt:lpstr>Ways to Reduce AWS Bill</vt:lpstr>
      <vt:lpstr>Different Ways to Reduce your AWS Bill</vt:lpstr>
      <vt:lpstr>AWS Cost Optimization</vt:lpstr>
      <vt:lpstr>What is AWS Cost Optimization?</vt:lpstr>
      <vt:lpstr>Demo: Pricing Calculator/Estimates</vt:lpstr>
      <vt:lpstr>PowerPoint Presentation</vt:lpstr>
      <vt:lpstr>Q &amp; 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Pritsky, Todd</cp:lastModifiedBy>
  <cp:revision>3</cp:revision>
  <cp:lastPrinted>2025-12-18T15:45:27Z</cp:lastPrinted>
  <dcterms:created xsi:type="dcterms:W3CDTF">2021-09-21T14:34:33Z</dcterms:created>
  <dcterms:modified xsi:type="dcterms:W3CDTF">2025-12-18T15:54:32Z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2025-12-11T19:20:21Z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2dd3f3f4-c865-4c9d-b760-8f6bc8b1da5f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